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E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Fiber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Repeat Caller Dashboard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640080" y="2514600"/>
            <a:ext cx="4114800" cy="0"/>
          </a:xfrm>
          <a:prstGeom prst="straightConnector1">
            <a:avLst/>
          </a:prstGeom>
          <a:noFill/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Low-fidelity mockup  ·  Strategy Document v1.0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301752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Datasets &amp; access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3200400"/>
            <a:ext cx="1783080" cy="274320"/>
          </a:xfrm>
          <a:prstGeom prst="roundRect">
            <a:avLst>
              <a:gd fmla="val 16667" name="adj"/>
            </a:avLst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40080" y="32004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market_1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651760" y="3200400"/>
            <a:ext cx="1783080" cy="274320"/>
          </a:xfrm>
          <a:prstGeom prst="roundRect">
            <a:avLst>
              <a:gd fmla="val 16667" name="adj"/>
            </a:avLst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651760" y="32004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market_2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663440" y="3200400"/>
            <a:ext cx="1783080" cy="274320"/>
          </a:xfrm>
          <a:prstGeom prst="roundRect">
            <a:avLst>
              <a:gd fmla="val 16667" name="adj"/>
            </a:avLst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663440" y="32004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market_3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675120" y="3200400"/>
            <a:ext cx="1783080" cy="274320"/>
          </a:xfrm>
          <a:prstGeom prst="roundRect">
            <a:avLst>
              <a:gd fmla="val 16667" name="adj"/>
            </a:avLst>
          </a:prstGeom>
          <a:solidFill>
            <a:srgbClr val="1E3A5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675120" y="320040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Read-only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Proposer: Emma Santiago, Hiring Manager  ·  Status: Draft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1 /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Overview — 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046720" y="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 /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11480" y="640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Filters: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05840" y="658368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005840" y="65836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011680" y="658368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2011680" y="65836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Month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017520" y="658368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017520" y="65836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Quarter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023360" y="658368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023360" y="658368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Market ▾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74320" y="1097280"/>
            <a:ext cx="2011680" cy="54864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65760" y="1115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Total contacts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65760" y="12801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2423160" y="1097280"/>
            <a:ext cx="2011680" cy="54864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2514600" y="1115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Repeat callers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514600" y="12801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0" y="1097280"/>
            <a:ext cx="2011680" cy="54864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663440" y="1115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Avg. repeat calls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663440" y="12801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720840" y="1097280"/>
            <a:ext cx="2011680" cy="54864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812280" y="111556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Top problem type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812280" y="12801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74320" y="1755648"/>
            <a:ext cx="859536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20040" y="1792224"/>
            <a:ext cx="822960" cy="201168"/>
          </a:xfrm>
          <a:prstGeom prst="roundRect">
            <a:avLst>
              <a:gd fmla="val 1818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38328" y="1801368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Chart 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207008" y="179222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Repeats by week, month, and quarter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207008" y="198424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Bar · Dim: date, contact · Metric: contact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65760" y="2176272"/>
            <a:ext cx="8412480" cy="749808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65760" y="2176272"/>
            <a:ext cx="8412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 bar chart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74320" y="3063240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20040" y="3099816"/>
            <a:ext cx="822960" cy="201168"/>
          </a:xfrm>
          <a:prstGeom prst="roundRect">
            <a:avLst>
              <a:gd fmla="val 1818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38328" y="3108960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Chart 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207008" y="3099816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 and problem type of first repeat calls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47472" y="3410712"/>
            <a:ext cx="4023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Bar · Dim: call type, market, contact_n_1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65760" y="3584448"/>
            <a:ext cx="4023360" cy="91440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65760" y="3584448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 bar chart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663440" y="3063240"/>
            <a:ext cx="4206240" cy="1508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709160" y="3099816"/>
            <a:ext cx="822960" cy="201168"/>
          </a:xfrm>
          <a:prstGeom prst="roundRect">
            <a:avLst>
              <a:gd fmla="val 1818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727448" y="3108960"/>
            <a:ext cx="786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Chart 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596128" y="309981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Repeat calls by first 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36592" y="3300984"/>
            <a:ext cx="4023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Table · Dim: day of initial call, subsequent calls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736592" y="3584448"/>
            <a:ext cx="4023360" cy="91440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736592" y="3584448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[ table placeholder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Chart 3: Calls by Market and Type (full-width table) — see slide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4 — Repeats by week, month, and quarter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046720" y="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3 /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74320" y="594360"/>
            <a:ext cx="2560320" cy="2194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84048" y="6583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CHART SPEC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65760" y="896112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371600" y="89611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Bar (column)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65760" y="1243584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371600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Date, 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65760" y="159105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371600" y="159105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60" y="1938528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Granularity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371600" y="193852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Week / Month / Qtr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65760" y="2286000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Drill-down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371600" y="22860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Click to expand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017520" y="594360"/>
            <a:ext cx="585216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154680" y="658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LO-FI BAR CHART — WEEKLY REPEAT CONTACTS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291840" y="3035808"/>
            <a:ext cx="329184" cy="11704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291840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730752" y="2392070"/>
            <a:ext cx="329184" cy="181417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3730752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169664" y="2801722"/>
            <a:ext cx="329184" cy="140451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169664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608576" y="1719072"/>
            <a:ext cx="329184" cy="248716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608576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047488" y="2157984"/>
            <a:ext cx="329184" cy="2048256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047488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0" y="2596896"/>
            <a:ext cx="329184" cy="160934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486400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925312" y="1572768"/>
            <a:ext cx="329184" cy="26334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5925312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364224" y="2743200"/>
            <a:ext cx="329184" cy="14630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364224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803136" y="2977286"/>
            <a:ext cx="329184" cy="122895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803136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242048" y="1923898"/>
            <a:ext cx="329184" cy="228234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242048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680960" y="3182112"/>
            <a:ext cx="329184" cy="102412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680960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8119872" y="2304288"/>
            <a:ext cx="329184" cy="19019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119872" y="4251960"/>
            <a:ext cx="3291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3246120" y="3474720"/>
            <a:ext cx="5312664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1" name="Google Shape;131;p5"/>
          <p:cNvCxnSpPr/>
          <p:nvPr/>
        </p:nvCxnSpPr>
        <p:spPr>
          <a:xfrm>
            <a:off x="3246120" y="2743200"/>
            <a:ext cx="5312664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/>
          <p:nvPr/>
        </p:nvCxnSpPr>
        <p:spPr>
          <a:xfrm>
            <a:off x="3246120" y="2011680"/>
            <a:ext cx="5312664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3" name="Google Shape;133;p5"/>
          <p:cNvCxnSpPr/>
          <p:nvPr/>
        </p:nvCxnSpPr>
        <p:spPr>
          <a:xfrm>
            <a:off x="3246120" y="1280160"/>
            <a:ext cx="5312664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3017520" y="4526280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Granularity toggle: Week  |  Month  |  Quarter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4320" y="2651760"/>
            <a:ext cx="2560320" cy="192024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84048" y="2715768"/>
            <a:ext cx="23408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Design notes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84048" y="2944368"/>
            <a:ext cx="2340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Bars group by selected granularity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84048" y="3364992"/>
            <a:ext cx="2340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Highlighted bar = highest repeat period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84048" y="3785616"/>
            <a:ext cx="23408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Click bar to drill into individual contacts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2 — Market and problem type of first repeat calls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046720" y="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4 /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74320" y="594360"/>
            <a:ext cx="256032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84048" y="6583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CHART SPEC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896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371600" y="89611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Bar (horizontal)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60" y="13075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371600" y="13075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Call type, market,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contact_n_1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65760" y="171907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371600" y="171907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84048" y="2560320"/>
            <a:ext cx="164592" cy="128016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03504" y="25420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market_1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84048" y="2788920"/>
            <a:ext cx="164592" cy="12801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03504" y="27706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market_2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84048" y="3017520"/>
            <a:ext cx="164592" cy="128016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03504" y="2999232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market_3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017520" y="594360"/>
            <a:ext cx="585216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3154680" y="658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LO-FI GROUPED BAR — CONTACTS BY PROBLEM TYPE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154680" y="960120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160520" y="996696"/>
            <a:ext cx="3423514" cy="1371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160520" y="1161288"/>
            <a:ext cx="2615184" cy="1371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4160520" y="1325880"/>
            <a:ext cx="1901952" cy="137160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6"/>
          <p:cNvCxnSpPr/>
          <p:nvPr/>
        </p:nvCxnSpPr>
        <p:spPr>
          <a:xfrm>
            <a:off x="3154680" y="1490472"/>
            <a:ext cx="5577840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9" name="Google Shape;169;p6"/>
          <p:cNvSpPr/>
          <p:nvPr/>
        </p:nvSpPr>
        <p:spPr>
          <a:xfrm>
            <a:off x="3154680" y="1527048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Account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160520" y="1563624"/>
            <a:ext cx="2567635" cy="1371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160520" y="1728216"/>
            <a:ext cx="1997050" cy="1371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160520" y="1892808"/>
            <a:ext cx="1426464" cy="137160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6"/>
          <p:cNvCxnSpPr/>
          <p:nvPr/>
        </p:nvCxnSpPr>
        <p:spPr>
          <a:xfrm>
            <a:off x="3154680" y="2057400"/>
            <a:ext cx="5577840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3154680" y="2093976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Technician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160520" y="2130552"/>
            <a:ext cx="1901952" cy="1371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160520" y="2295144"/>
            <a:ext cx="2852928" cy="1371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160520" y="2459736"/>
            <a:ext cx="1188720" cy="137160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6"/>
          <p:cNvCxnSpPr/>
          <p:nvPr/>
        </p:nvCxnSpPr>
        <p:spPr>
          <a:xfrm>
            <a:off x="3154680" y="2624328"/>
            <a:ext cx="5577840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3154680" y="2660904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Billing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160520" y="2697480"/>
            <a:ext cx="1331366" cy="1371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160520" y="2862072"/>
            <a:ext cx="1664208" cy="1371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4160520" y="3026664"/>
            <a:ext cx="2377440" cy="137160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6"/>
          <p:cNvCxnSpPr/>
          <p:nvPr/>
        </p:nvCxnSpPr>
        <p:spPr>
          <a:xfrm>
            <a:off x="3154680" y="3191256"/>
            <a:ext cx="5577840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4" name="Google Shape;184;p6"/>
          <p:cNvSpPr/>
          <p:nvPr/>
        </p:nvSpPr>
        <p:spPr>
          <a:xfrm>
            <a:off x="3154680" y="3227832"/>
            <a:ext cx="914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160520" y="3264408"/>
            <a:ext cx="713232" cy="1371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160520" y="3429000"/>
            <a:ext cx="855878" cy="1371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160520" y="3593592"/>
            <a:ext cx="570586" cy="137160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" name="Google Shape;188;p6"/>
          <p:cNvCxnSpPr/>
          <p:nvPr/>
        </p:nvCxnSpPr>
        <p:spPr>
          <a:xfrm>
            <a:off x="4160520" y="3840480"/>
            <a:ext cx="4754880" cy="0"/>
          </a:xfrm>
          <a:prstGeom prst="straightConnector1">
            <a:avLst/>
          </a:prstGeom>
          <a:noFill/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6"/>
          <p:cNvSpPr/>
          <p:nvPr/>
        </p:nvSpPr>
        <p:spPr>
          <a:xfrm>
            <a:off x="4160520" y="3913632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← Contact count per market →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1 — Repeat calls by first 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046720" y="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5 /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74320" y="594360"/>
            <a:ext cx="25603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84048" y="6583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CHART SPEC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65760" y="8961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371600" y="89611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65760" y="13075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371600" y="13075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Day of initial call,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subsequent repeat calls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60" y="171907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371600" y="171907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017520" y="594360"/>
            <a:ext cx="585216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3154680" y="658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LO-FI TABLE — REPEAT CALLS BY INITIAL CALL DATE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090672" y="932688"/>
            <a:ext cx="5705856" cy="274320"/>
          </a:xfrm>
          <a:prstGeom prst="rect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3127248" y="9326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call 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681728" y="9326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contact_n_1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596128" y="9326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contact_n_2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510528" y="9326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contact_n_3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424928" y="93268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090672" y="1207008"/>
            <a:ext cx="5705856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3127248" y="12070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681728" y="120700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596128" y="120700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510528" y="120700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7424928" y="120700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090672" y="1572768"/>
            <a:ext cx="5705856" cy="36576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3127248" y="157276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681728" y="157276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596128" y="157276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510528" y="157276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424928" y="157276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090672" y="1938528"/>
            <a:ext cx="5705856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127248" y="19385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681728" y="193852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596128" y="193852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510528" y="193852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424928" y="193852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3090672" y="2304288"/>
            <a:ext cx="5705856" cy="36576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3127248" y="230428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681728" y="230428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596128" y="230428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510528" y="230428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424928" y="230428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090672" y="2670048"/>
            <a:ext cx="5705856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127248" y="267004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681728" y="26700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596128" y="26700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510528" y="267004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424928" y="26700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090672" y="3035808"/>
            <a:ext cx="5705856" cy="36576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3127248" y="303580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681728" y="303580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596128" y="303580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510528" y="303580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7424928" y="303580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3090672" y="3401568"/>
            <a:ext cx="5705856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3127248" y="340156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681728" y="340156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596128" y="340156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510528" y="340156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7424928" y="340156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090672" y="4224528"/>
            <a:ext cx="57058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Click any row to view individual contact details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74320" y="2514600"/>
            <a:ext cx="2560320" cy="13716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384048" y="2578608"/>
            <a:ext cx="23408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Design notes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384048" y="281635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Sortable by any column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84048" y="3163824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Striped rows for readability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84048" y="3511296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0" i="0" lang="en-US" sz="800" u="none" cap="none" strike="noStrike">
                <a:solidFill>
                  <a:srgbClr val="1E40AF"/>
                </a:solidFill>
                <a:latin typeface="Calibri"/>
                <a:ea typeface="Calibri"/>
                <a:cs typeface="Calibri"/>
                <a:sym typeface="Calibri"/>
              </a:rPr>
              <a:t>Click row = drill to contact 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3 — Calls by market and type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8046720" y="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6 /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274320" y="594360"/>
            <a:ext cx="25603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384048" y="6583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CHART SPEC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65760" y="89611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371600" y="89611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Table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65760" y="12801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Dimension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371600" y="12801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Market, call type, 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65760" y="166420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1371600" y="166420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274320" y="2331720"/>
            <a:ext cx="2560320" cy="1005840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384048" y="23957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MARKET COLOR CODING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84048" y="2596896"/>
            <a:ext cx="164592" cy="1371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03504" y="257860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market_1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84048" y="2825496"/>
            <a:ext cx="164592" cy="1371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603504" y="280720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market_2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84048" y="3054096"/>
            <a:ext cx="164592" cy="137160"/>
          </a:xfrm>
          <a:prstGeom prst="rect">
            <a:avLst/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03504" y="303580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market_3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017520" y="594360"/>
            <a:ext cx="5852160" cy="4206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3154680" y="658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LO-FI TABLE — CALLS BY MARKET, TYPE, AND DAY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090672" y="932688"/>
            <a:ext cx="5705856" cy="274320"/>
          </a:xfrm>
          <a:prstGeom prst="rect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127248" y="9326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315968" y="9326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 type /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601968" y="93268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699248" y="9326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090672" y="1207008"/>
            <a:ext cx="57058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3136392" y="1298448"/>
            <a:ext cx="1005840" cy="219456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3136392" y="1298448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market_1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4315968" y="120700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601968" y="120700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699248" y="1207008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090672" y="1609344"/>
            <a:ext cx="5705856" cy="402336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3136392" y="1700784"/>
            <a:ext cx="1005840" cy="219456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3136392" y="170078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market_1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315968" y="160934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601968" y="1609344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699248" y="1609344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090672" y="2011680"/>
            <a:ext cx="57058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3136392" y="2103120"/>
            <a:ext cx="1005840" cy="219456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3136392" y="2103120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market_2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315968" y="2011680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601968" y="2011680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699248" y="2011680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3090672" y="2414016"/>
            <a:ext cx="5705856" cy="402336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3136392" y="2505456"/>
            <a:ext cx="1005840" cy="219456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3136392" y="250545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DBEAFE"/>
                </a:solidFill>
                <a:latin typeface="Calibri"/>
                <a:ea typeface="Calibri"/>
                <a:cs typeface="Calibri"/>
                <a:sym typeface="Calibri"/>
              </a:rPr>
              <a:t>market_2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315968" y="2414016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601968" y="2414016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7699248" y="2414016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090672" y="2816352"/>
            <a:ext cx="57058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3136392" y="2907792"/>
            <a:ext cx="1005840" cy="219456"/>
          </a:xfrm>
          <a:prstGeom prst="roundRect">
            <a:avLst>
              <a:gd fmla="val 16667" name="adj"/>
            </a:avLst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3136392" y="290779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market_3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315968" y="2816352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6601968" y="2816352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7699248" y="2816352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090672" y="3218688"/>
            <a:ext cx="5705856" cy="402336"/>
          </a:xfrm>
          <a:prstGeom prst="rect">
            <a:avLst/>
          </a:prstGeom>
          <a:solidFill>
            <a:srgbClr val="F3F4F6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3136392" y="3310128"/>
            <a:ext cx="1005840" cy="219456"/>
          </a:xfrm>
          <a:prstGeom prst="roundRect">
            <a:avLst>
              <a:gd fmla="val 16667" name="adj"/>
            </a:avLst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3136392" y="3310128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market_3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315968" y="3218688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6601968" y="321868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7699248" y="3218688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3090672" y="3621024"/>
            <a:ext cx="5705856" cy="4023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3136392" y="3712464"/>
            <a:ext cx="1005840" cy="219456"/>
          </a:xfrm>
          <a:prstGeom prst="roundRect">
            <a:avLst>
              <a:gd fmla="val 16667" name="adj"/>
            </a:avLst>
          </a:prstGeom>
          <a:solidFill>
            <a:srgbClr val="93C5FD"/>
          </a:solidFill>
          <a:ln cap="flat" cmpd="sng" w="1270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3136392" y="371246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market_3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315968" y="3621024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6601968" y="3621024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7699248" y="3621024"/>
            <a:ext cx="914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5080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3090672" y="4224528"/>
            <a:ext cx="57058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50"/>
              <a:buFont typeface="Calibri"/>
              <a:buNone/>
            </a:pPr>
            <a:r>
              <a:rPr b="0" i="1" lang="en-US" sz="75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Use market filter above to isolate one city's 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